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BM Plex Mono Bold" charset="1" panose="020B0809050203000203"/>
      <p:regular r:id="rId17"/>
    </p:embeddedFont>
    <p:embeddedFont>
      <p:font typeface="Archivo Black" charset="1" panose="020B0A03020202020B04"/>
      <p:regular r:id="rId18"/>
    </p:embeddedFont>
    <p:embeddedFont>
      <p:font typeface="Source Sans 3" charset="1" panose="020B0303030403020204"/>
      <p:regular r:id="rId19"/>
    </p:embeddedFont>
    <p:embeddedFont>
      <p:font typeface="Source Sans 3 Bold" charset="1" panose="020B0303030403020204"/>
      <p:regular r:id="rId20"/>
    </p:embeddedFont>
    <p:embeddedFont>
      <p:font typeface="IBM Plex Mono" charset="1" panose="020B050905020300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4500" y="0"/>
            <a:ext cx="8953500" cy="10287000"/>
          </a:xfrm>
          <a:custGeom>
            <a:avLst/>
            <a:gdLst/>
            <a:ahLst/>
            <a:cxnLst/>
            <a:rect r="r" b="b" t="t" l="l"/>
            <a:pathLst>
              <a:path h="10287000" w="8953500">
                <a:moveTo>
                  <a:pt x="0" y="0"/>
                </a:moveTo>
                <a:lnTo>
                  <a:pt x="8953500" y="0"/>
                </a:lnTo>
                <a:lnTo>
                  <a:pt x="8953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" r="0" b="-21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9715500" cy="10287000"/>
            <a:chOff x="0" y="0"/>
            <a:chExt cx="1295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D2B">
                <a:alpha val="2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9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7750" y="1790700"/>
            <a:ext cx="857250" cy="66675"/>
            <a:chOff x="0" y="0"/>
            <a:chExt cx="1143000" cy="8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" cy="88900"/>
            </a:xfrm>
            <a:custGeom>
              <a:avLst/>
              <a:gdLst/>
              <a:ahLst/>
              <a:cxnLst/>
              <a:rect r="r" b="b" t="t" l="l"/>
              <a:pathLst>
                <a:path h="889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D6A63C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47750" y="1095375"/>
            <a:ext cx="666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D6A63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PROYECTO INTEGRADO TIC · GRUPO 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2181225"/>
            <a:ext cx="8763000" cy="177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2"/>
              </a:lnSpc>
            </a:pPr>
            <a:r>
              <a:rPr lang="en-US" sz="69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Clima, Poder</a:t>
            </a:r>
          </a:p>
          <a:p>
            <a:pPr algn="l">
              <a:lnSpc>
                <a:spcPts val="6762"/>
              </a:lnSpc>
            </a:pPr>
            <a:r>
              <a:rPr lang="en-US" sz="69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y Futuro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4933950"/>
            <a:ext cx="69532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Una experiencia para comprender el clima, debatir el poder y diseñar futuros posibles.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8067675"/>
            <a:ext cx="619125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D6A63C"/>
                </a:solidFill>
                <a:latin typeface="Source Sans 3"/>
                <a:ea typeface="Source Sans 3"/>
                <a:cs typeface="Source Sans 3"/>
                <a:sym typeface="Source Sans 3"/>
              </a:rPr>
              <a:t>Grado 11.° · I.E. Ciudad de Ipiales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D6A63C"/>
                </a:solidFill>
                <a:latin typeface="Source Sans 3"/>
                <a:ea typeface="Source Sans 3"/>
                <a:cs typeface="Source Sans 3"/>
                <a:sym typeface="Source Sans 3"/>
              </a:rPr>
              <a:t>Maestría UTB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09625"/>
            <a:ext cx="10953750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02B38"/>
                </a:solidFill>
                <a:latin typeface="Archivo Black"/>
                <a:ea typeface="Archivo Black"/>
                <a:cs typeface="Archivo Black"/>
                <a:sym typeface="Archivo Black"/>
              </a:rPr>
              <a:t>Un equipo con decisiones claras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552575"/>
            <a:ext cx="119062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02B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RACI convierte la colaboración en trazabilidad: cada entrega tiene liderazgo, validación y soporte definidos.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334000" y="2952750"/>
            <a:ext cx="2047875" cy="762000"/>
            <a:chOff x="0" y="0"/>
            <a:chExt cx="2730500" cy="10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305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730500">
                  <a:moveTo>
                    <a:pt x="106326" y="0"/>
                  </a:moveTo>
                  <a:lnTo>
                    <a:pt x="2624175" y="0"/>
                  </a:lnTo>
                  <a:cubicBezTo>
                    <a:pt x="2652374" y="0"/>
                    <a:pt x="2679418" y="11202"/>
                    <a:pt x="2699358" y="31142"/>
                  </a:cubicBezTo>
                  <a:cubicBezTo>
                    <a:pt x="2719298" y="51082"/>
                    <a:pt x="2730500" y="78126"/>
                    <a:pt x="2730500" y="106326"/>
                  </a:cubicBezTo>
                  <a:lnTo>
                    <a:pt x="2730500" y="909674"/>
                  </a:lnTo>
                  <a:cubicBezTo>
                    <a:pt x="2730500" y="937874"/>
                    <a:pt x="2719298" y="964918"/>
                    <a:pt x="2699358" y="984858"/>
                  </a:cubicBezTo>
                  <a:cubicBezTo>
                    <a:pt x="2679418" y="1004798"/>
                    <a:pt x="2652374" y="1016000"/>
                    <a:pt x="2624175" y="1016000"/>
                  </a:cubicBezTo>
                  <a:lnTo>
                    <a:pt x="106326" y="1016000"/>
                  </a:lnTo>
                  <a:cubicBezTo>
                    <a:pt x="78126" y="1016000"/>
                    <a:pt x="51082" y="1004798"/>
                    <a:pt x="31142" y="984858"/>
                  </a:cubicBezTo>
                  <a:cubicBezTo>
                    <a:pt x="11202" y="964918"/>
                    <a:pt x="0" y="937874"/>
                    <a:pt x="0" y="909674"/>
                  </a:cubicBezTo>
                  <a:lnTo>
                    <a:pt x="0" y="106326"/>
                  </a:lnTo>
                  <a:cubicBezTo>
                    <a:pt x="0" y="78126"/>
                    <a:pt x="11202" y="51082"/>
                    <a:pt x="31142" y="31142"/>
                  </a:cubicBezTo>
                  <a:cubicBezTo>
                    <a:pt x="51082" y="11202"/>
                    <a:pt x="78126" y="0"/>
                    <a:pt x="106326" y="0"/>
                  </a:cubicBezTo>
                  <a:close/>
                </a:path>
              </a:pathLst>
            </a:custGeom>
            <a:solidFill>
              <a:srgbClr val="102B3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2730500" cy="99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Actividad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67625" y="2952750"/>
            <a:ext cx="2047875" cy="762000"/>
            <a:chOff x="0" y="0"/>
            <a:chExt cx="2730500" cy="10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305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730500">
                  <a:moveTo>
                    <a:pt x="106326" y="0"/>
                  </a:moveTo>
                  <a:lnTo>
                    <a:pt x="2624175" y="0"/>
                  </a:lnTo>
                  <a:cubicBezTo>
                    <a:pt x="2652374" y="0"/>
                    <a:pt x="2679418" y="11202"/>
                    <a:pt x="2699358" y="31142"/>
                  </a:cubicBezTo>
                  <a:cubicBezTo>
                    <a:pt x="2719298" y="51082"/>
                    <a:pt x="2730500" y="78126"/>
                    <a:pt x="2730500" y="106326"/>
                  </a:cubicBezTo>
                  <a:lnTo>
                    <a:pt x="2730500" y="909674"/>
                  </a:lnTo>
                  <a:cubicBezTo>
                    <a:pt x="2730500" y="937874"/>
                    <a:pt x="2719298" y="964918"/>
                    <a:pt x="2699358" y="984858"/>
                  </a:cubicBezTo>
                  <a:cubicBezTo>
                    <a:pt x="2679418" y="1004798"/>
                    <a:pt x="2652374" y="1016000"/>
                    <a:pt x="2624175" y="1016000"/>
                  </a:cubicBezTo>
                  <a:lnTo>
                    <a:pt x="106326" y="1016000"/>
                  </a:lnTo>
                  <a:cubicBezTo>
                    <a:pt x="78126" y="1016000"/>
                    <a:pt x="51082" y="1004798"/>
                    <a:pt x="31142" y="984858"/>
                  </a:cubicBezTo>
                  <a:cubicBezTo>
                    <a:pt x="11202" y="964918"/>
                    <a:pt x="0" y="937874"/>
                    <a:pt x="0" y="909674"/>
                  </a:cubicBezTo>
                  <a:lnTo>
                    <a:pt x="0" y="106326"/>
                  </a:lnTo>
                  <a:cubicBezTo>
                    <a:pt x="0" y="78126"/>
                    <a:pt x="11202" y="51082"/>
                    <a:pt x="31142" y="31142"/>
                  </a:cubicBezTo>
                  <a:cubicBezTo>
                    <a:pt x="51082" y="11202"/>
                    <a:pt x="78126" y="0"/>
                    <a:pt x="106326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2730500" cy="99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Diseño</a:t>
              </a:r>
            </a:p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pedagógico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01250" y="2952750"/>
            <a:ext cx="2047875" cy="762000"/>
            <a:chOff x="0" y="0"/>
            <a:chExt cx="2730500" cy="10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305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730500">
                  <a:moveTo>
                    <a:pt x="106326" y="0"/>
                  </a:moveTo>
                  <a:lnTo>
                    <a:pt x="2624175" y="0"/>
                  </a:lnTo>
                  <a:cubicBezTo>
                    <a:pt x="2652374" y="0"/>
                    <a:pt x="2679418" y="11202"/>
                    <a:pt x="2699358" y="31142"/>
                  </a:cubicBezTo>
                  <a:cubicBezTo>
                    <a:pt x="2719298" y="51082"/>
                    <a:pt x="2730500" y="78126"/>
                    <a:pt x="2730500" y="106326"/>
                  </a:cubicBezTo>
                  <a:lnTo>
                    <a:pt x="2730500" y="909674"/>
                  </a:lnTo>
                  <a:cubicBezTo>
                    <a:pt x="2730500" y="937874"/>
                    <a:pt x="2719298" y="964918"/>
                    <a:pt x="2699358" y="984858"/>
                  </a:cubicBezTo>
                  <a:cubicBezTo>
                    <a:pt x="2679418" y="1004798"/>
                    <a:pt x="2652374" y="1016000"/>
                    <a:pt x="2624175" y="1016000"/>
                  </a:cubicBezTo>
                  <a:lnTo>
                    <a:pt x="106326" y="1016000"/>
                  </a:lnTo>
                  <a:cubicBezTo>
                    <a:pt x="78126" y="1016000"/>
                    <a:pt x="51082" y="1004798"/>
                    <a:pt x="31142" y="984858"/>
                  </a:cubicBezTo>
                  <a:cubicBezTo>
                    <a:pt x="11202" y="964918"/>
                    <a:pt x="0" y="937874"/>
                    <a:pt x="0" y="909674"/>
                  </a:cubicBezTo>
                  <a:lnTo>
                    <a:pt x="0" y="106326"/>
                  </a:lnTo>
                  <a:cubicBezTo>
                    <a:pt x="0" y="78126"/>
                    <a:pt x="11202" y="51082"/>
                    <a:pt x="31142" y="31142"/>
                  </a:cubicBezTo>
                  <a:cubicBezTo>
                    <a:pt x="51082" y="11202"/>
                    <a:pt x="78126" y="0"/>
                    <a:pt x="106326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730500" cy="99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Producción</a:t>
              </a:r>
            </a:p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OVA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34875" y="2952750"/>
            <a:ext cx="2047875" cy="762000"/>
            <a:chOff x="0" y="0"/>
            <a:chExt cx="2730500" cy="101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305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730500">
                  <a:moveTo>
                    <a:pt x="106326" y="0"/>
                  </a:moveTo>
                  <a:lnTo>
                    <a:pt x="2624175" y="0"/>
                  </a:lnTo>
                  <a:cubicBezTo>
                    <a:pt x="2652374" y="0"/>
                    <a:pt x="2679418" y="11202"/>
                    <a:pt x="2699358" y="31142"/>
                  </a:cubicBezTo>
                  <a:cubicBezTo>
                    <a:pt x="2719298" y="51082"/>
                    <a:pt x="2730500" y="78126"/>
                    <a:pt x="2730500" y="106326"/>
                  </a:cubicBezTo>
                  <a:lnTo>
                    <a:pt x="2730500" y="909674"/>
                  </a:lnTo>
                  <a:cubicBezTo>
                    <a:pt x="2730500" y="937874"/>
                    <a:pt x="2719298" y="964918"/>
                    <a:pt x="2699358" y="984858"/>
                  </a:cubicBezTo>
                  <a:cubicBezTo>
                    <a:pt x="2679418" y="1004798"/>
                    <a:pt x="2652374" y="1016000"/>
                    <a:pt x="2624175" y="1016000"/>
                  </a:cubicBezTo>
                  <a:lnTo>
                    <a:pt x="106326" y="1016000"/>
                  </a:lnTo>
                  <a:cubicBezTo>
                    <a:pt x="78126" y="1016000"/>
                    <a:pt x="51082" y="1004798"/>
                    <a:pt x="31142" y="984858"/>
                  </a:cubicBezTo>
                  <a:cubicBezTo>
                    <a:pt x="11202" y="964918"/>
                    <a:pt x="0" y="937874"/>
                    <a:pt x="0" y="909674"/>
                  </a:cubicBezTo>
                  <a:lnTo>
                    <a:pt x="0" y="106326"/>
                  </a:lnTo>
                  <a:cubicBezTo>
                    <a:pt x="0" y="78126"/>
                    <a:pt x="11202" y="51082"/>
                    <a:pt x="31142" y="31142"/>
                  </a:cubicBezTo>
                  <a:cubicBezTo>
                    <a:pt x="51082" y="11202"/>
                    <a:pt x="78126" y="0"/>
                    <a:pt x="106326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2730500" cy="99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Evaluación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68500" y="2952750"/>
            <a:ext cx="2047875" cy="762000"/>
            <a:chOff x="0" y="0"/>
            <a:chExt cx="2730500" cy="10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305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730500">
                  <a:moveTo>
                    <a:pt x="106326" y="0"/>
                  </a:moveTo>
                  <a:lnTo>
                    <a:pt x="2624175" y="0"/>
                  </a:lnTo>
                  <a:cubicBezTo>
                    <a:pt x="2652374" y="0"/>
                    <a:pt x="2679418" y="11202"/>
                    <a:pt x="2699358" y="31142"/>
                  </a:cubicBezTo>
                  <a:cubicBezTo>
                    <a:pt x="2719298" y="51082"/>
                    <a:pt x="2730500" y="78126"/>
                    <a:pt x="2730500" y="106326"/>
                  </a:cubicBezTo>
                  <a:lnTo>
                    <a:pt x="2730500" y="909674"/>
                  </a:lnTo>
                  <a:cubicBezTo>
                    <a:pt x="2730500" y="937874"/>
                    <a:pt x="2719298" y="964918"/>
                    <a:pt x="2699358" y="984858"/>
                  </a:cubicBezTo>
                  <a:cubicBezTo>
                    <a:pt x="2679418" y="1004798"/>
                    <a:pt x="2652374" y="1016000"/>
                    <a:pt x="2624175" y="1016000"/>
                  </a:cubicBezTo>
                  <a:lnTo>
                    <a:pt x="106326" y="1016000"/>
                  </a:lnTo>
                  <a:cubicBezTo>
                    <a:pt x="78126" y="1016000"/>
                    <a:pt x="51082" y="1004798"/>
                    <a:pt x="31142" y="984858"/>
                  </a:cubicBezTo>
                  <a:cubicBezTo>
                    <a:pt x="11202" y="964918"/>
                    <a:pt x="0" y="937874"/>
                    <a:pt x="0" y="909674"/>
                  </a:cubicBezTo>
                  <a:lnTo>
                    <a:pt x="0" y="106326"/>
                  </a:lnTo>
                  <a:cubicBezTo>
                    <a:pt x="0" y="78126"/>
                    <a:pt x="11202" y="51082"/>
                    <a:pt x="31142" y="31142"/>
                  </a:cubicBezTo>
                  <a:cubicBezTo>
                    <a:pt x="51082" y="11202"/>
                    <a:pt x="78126" y="0"/>
                    <a:pt x="106326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2730500" cy="99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Gestión</a:t>
              </a:r>
            </a:p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final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67625" y="3905250"/>
            <a:ext cx="2047875" cy="800100"/>
            <a:chOff x="0" y="0"/>
            <a:chExt cx="2730500" cy="1066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D6A63C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001250" y="3905250"/>
            <a:ext cx="2047875" cy="800100"/>
            <a:chOff x="0" y="0"/>
            <a:chExt cx="2730500" cy="1066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DBE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02B3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34875" y="3905250"/>
            <a:ext cx="2047875" cy="800100"/>
            <a:chOff x="0" y="0"/>
            <a:chExt cx="2730500" cy="1066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DBE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02B3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668500" y="3905250"/>
            <a:ext cx="2047875" cy="800100"/>
            <a:chOff x="0" y="0"/>
            <a:chExt cx="2730500" cy="1066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67625" y="5000625"/>
            <a:ext cx="2047875" cy="800100"/>
            <a:chOff x="0" y="0"/>
            <a:chExt cx="2730500" cy="1066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01250" y="5000625"/>
            <a:ext cx="2047875" cy="800100"/>
            <a:chOff x="0" y="0"/>
            <a:chExt cx="2730500" cy="1066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DBE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02B3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34875" y="5000625"/>
            <a:ext cx="2047875" cy="800100"/>
            <a:chOff x="0" y="0"/>
            <a:chExt cx="2730500" cy="1066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D6A63C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668500" y="5000625"/>
            <a:ext cx="2047875" cy="800100"/>
            <a:chOff x="0" y="0"/>
            <a:chExt cx="2730500" cy="1066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DBE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02B3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667625" y="6096000"/>
            <a:ext cx="2047875" cy="800100"/>
            <a:chOff x="0" y="0"/>
            <a:chExt cx="2730500" cy="1066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DBE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02B3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001250" y="6096000"/>
            <a:ext cx="2047875" cy="800100"/>
            <a:chOff x="0" y="0"/>
            <a:chExt cx="2730500" cy="1066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334875" y="6096000"/>
            <a:ext cx="2047875" cy="800100"/>
            <a:chOff x="0" y="0"/>
            <a:chExt cx="2730500" cy="1066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DBE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02B3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668500" y="6096000"/>
            <a:ext cx="2047875" cy="800100"/>
            <a:chOff x="0" y="0"/>
            <a:chExt cx="2730500" cy="1066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DBE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02B3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667625" y="7191375"/>
            <a:ext cx="2047875" cy="800100"/>
            <a:chOff x="0" y="0"/>
            <a:chExt cx="2730500" cy="1066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DBE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02B3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001250" y="7191375"/>
            <a:ext cx="2047875" cy="800100"/>
            <a:chOff x="0" y="0"/>
            <a:chExt cx="2730500" cy="1066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DBE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02B3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334875" y="7191375"/>
            <a:ext cx="2047875" cy="800100"/>
            <a:chOff x="0" y="0"/>
            <a:chExt cx="2730500" cy="1066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668500" y="7191375"/>
            <a:ext cx="2047875" cy="800100"/>
            <a:chOff x="0" y="0"/>
            <a:chExt cx="2730500" cy="1066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7305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730500">
                  <a:moveTo>
                    <a:pt x="1365250" y="0"/>
                  </a:moveTo>
                  <a:cubicBezTo>
                    <a:pt x="2119257" y="0"/>
                    <a:pt x="2730500" y="238811"/>
                    <a:pt x="2730500" y="533400"/>
                  </a:cubicBezTo>
                  <a:cubicBezTo>
                    <a:pt x="2730500" y="827989"/>
                    <a:pt x="2119257" y="1066800"/>
                    <a:pt x="1365250" y="1066800"/>
                  </a:cubicBezTo>
                  <a:cubicBezTo>
                    <a:pt x="611243" y="1066800"/>
                    <a:pt x="0" y="827989"/>
                    <a:pt x="0" y="533400"/>
                  </a:cubicBezTo>
                  <a:cubicBezTo>
                    <a:pt x="0" y="238811"/>
                    <a:pt x="611243" y="0"/>
                    <a:pt x="1365250" y="0"/>
                  </a:cubicBezTo>
                  <a:close/>
                </a:path>
              </a:pathLst>
            </a:custGeom>
            <a:solidFill>
              <a:srgbClr val="D6A63C"/>
            </a:solidFill>
            <a:ln cap="sq">
              <a:noFill/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7305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A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047750" y="4105275"/>
            <a:ext cx="3619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02B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Coordinación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47750" y="5200650"/>
            <a:ext cx="3619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02B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Diseño pedagógico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47750" y="6296025"/>
            <a:ext cx="3619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02B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Producción TIC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47750" y="7391400"/>
            <a:ext cx="3619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02B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Evaluación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47750" y="8829675"/>
            <a:ext cx="1333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D6A63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 = Responsable   A = Aprueba   C = Consultado   I = Informado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90575"/>
            <a:ext cx="11906250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02B38"/>
                </a:solidFill>
                <a:latin typeface="Archivo Black"/>
                <a:ea typeface="Archivo Black"/>
                <a:cs typeface="Archivo Black"/>
                <a:sym typeface="Archivo Black"/>
              </a:rPr>
              <a:t>6 herramientas, un solo ecosistema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524000"/>
            <a:ext cx="120015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02B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Selección UTB 2024: pertinencia pedagógica, accesibilidad, interacción, analítica, autoría y posibilidad de reutilización.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9144000" y="2276475"/>
            <a:ext cx="3333750" cy="2533650"/>
          </a:xfrm>
          <a:prstGeom prst="line">
            <a:avLst/>
          </a:prstGeom>
          <a:ln cap="flat" w="28575">
            <a:solidFill>
              <a:srgbClr val="D6A6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5429250" y="4810125"/>
            <a:ext cx="3714750" cy="3562350"/>
          </a:xfrm>
          <a:prstGeom prst="line">
            <a:avLst/>
          </a:prstGeom>
          <a:ln cap="flat" w="28575">
            <a:solidFill>
              <a:srgbClr val="D6A6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144000" y="4810125"/>
            <a:ext cx="6096000" cy="228600"/>
          </a:xfrm>
          <a:prstGeom prst="line">
            <a:avLst/>
          </a:prstGeom>
          <a:ln cap="flat" w="28575">
            <a:solidFill>
              <a:srgbClr val="D6A6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4000" y="4810125"/>
            <a:ext cx="4476750" cy="3562350"/>
          </a:xfrm>
          <a:prstGeom prst="line">
            <a:avLst/>
          </a:prstGeom>
          <a:ln cap="flat" w="28575">
            <a:solidFill>
              <a:srgbClr val="D6A6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7667625" y="4810125"/>
            <a:ext cx="1476375" cy="228600"/>
          </a:xfrm>
          <a:prstGeom prst="line">
            <a:avLst/>
          </a:prstGeom>
          <a:ln cap="flat" w="28575">
            <a:solidFill>
              <a:srgbClr val="D6A6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4762500" y="2276475"/>
            <a:ext cx="4381500" cy="2533650"/>
          </a:xfrm>
          <a:prstGeom prst="line">
            <a:avLst/>
          </a:prstGeom>
          <a:ln cap="flat" w="28575">
            <a:solidFill>
              <a:srgbClr val="D6A63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7239000" y="3810000"/>
            <a:ext cx="3810000" cy="2000250"/>
            <a:chOff x="0" y="0"/>
            <a:chExt cx="5080000" cy="266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080000">
                  <a:moveTo>
                    <a:pt x="57150" y="0"/>
                  </a:moveTo>
                  <a:lnTo>
                    <a:pt x="5022850" y="0"/>
                  </a:lnTo>
                  <a:cubicBezTo>
                    <a:pt x="5054413" y="0"/>
                    <a:pt x="5080000" y="25587"/>
                    <a:pt x="5080000" y="57150"/>
                  </a:cubicBezTo>
                  <a:lnTo>
                    <a:pt x="5080000" y="2609850"/>
                  </a:lnTo>
                  <a:cubicBezTo>
                    <a:pt x="5080000" y="2641413"/>
                    <a:pt x="5054413" y="2667000"/>
                    <a:pt x="5022850" y="2667000"/>
                  </a:cubicBezTo>
                  <a:lnTo>
                    <a:pt x="57150" y="2667000"/>
                  </a:lnTo>
                  <a:cubicBezTo>
                    <a:pt x="25587" y="2667000"/>
                    <a:pt x="0" y="2641413"/>
                    <a:pt x="0" y="2609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71D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5080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OVA</a:t>
              </a:r>
            </a:p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Clima, Poder y Futuro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333750" y="1714500"/>
            <a:ext cx="2857500" cy="1123950"/>
            <a:chOff x="0" y="0"/>
            <a:chExt cx="3810000" cy="1498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0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422400"/>
                  </a:lnTo>
                  <a:cubicBezTo>
                    <a:pt x="3810000" y="1464484"/>
                    <a:pt x="3775884" y="1498600"/>
                    <a:pt x="3733800" y="1498600"/>
                  </a:cubicBezTo>
                  <a:lnTo>
                    <a:pt x="76200" y="1498600"/>
                  </a:lnTo>
                  <a:cubicBezTo>
                    <a:pt x="34116" y="1498600"/>
                    <a:pt x="0" y="1464484"/>
                    <a:pt x="0" y="1422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3810000" cy="1479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LMS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38875" y="4476750"/>
            <a:ext cx="2857500" cy="1123950"/>
            <a:chOff x="0" y="0"/>
            <a:chExt cx="3810000" cy="1498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422400"/>
                  </a:lnTo>
                  <a:cubicBezTo>
                    <a:pt x="3810000" y="1464484"/>
                    <a:pt x="3775884" y="1498600"/>
                    <a:pt x="3733800" y="1498600"/>
                  </a:cubicBezTo>
                  <a:lnTo>
                    <a:pt x="76200" y="1498600"/>
                  </a:lnTo>
                  <a:cubicBezTo>
                    <a:pt x="34116" y="1498600"/>
                    <a:pt x="0" y="1464484"/>
                    <a:pt x="0" y="1422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6F82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3810000" cy="1479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Libro interactivo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192000" y="7810500"/>
            <a:ext cx="2857500" cy="1123950"/>
            <a:chOff x="0" y="0"/>
            <a:chExt cx="3810000" cy="1498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422400"/>
                  </a:lnTo>
                  <a:cubicBezTo>
                    <a:pt x="3810000" y="1464484"/>
                    <a:pt x="3775884" y="1498600"/>
                    <a:pt x="3733800" y="1498600"/>
                  </a:cubicBezTo>
                  <a:lnTo>
                    <a:pt x="76200" y="1498600"/>
                  </a:lnTo>
                  <a:cubicBezTo>
                    <a:pt x="34116" y="1498600"/>
                    <a:pt x="0" y="1464484"/>
                    <a:pt x="0" y="1422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3810000" cy="1479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Quiz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811250" y="4476750"/>
            <a:ext cx="2857500" cy="1123950"/>
            <a:chOff x="0" y="0"/>
            <a:chExt cx="3810000" cy="1498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422400"/>
                  </a:lnTo>
                  <a:cubicBezTo>
                    <a:pt x="3810000" y="1464484"/>
                    <a:pt x="3775884" y="1498600"/>
                    <a:pt x="3733800" y="1498600"/>
                  </a:cubicBezTo>
                  <a:lnTo>
                    <a:pt x="76200" y="1498600"/>
                  </a:lnTo>
                  <a:cubicBezTo>
                    <a:pt x="34116" y="1498600"/>
                    <a:pt x="0" y="1464484"/>
                    <a:pt x="0" y="1422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6F82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3810000" cy="1479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Muro colaborativo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00500" y="7810500"/>
            <a:ext cx="2857500" cy="1123950"/>
            <a:chOff x="0" y="0"/>
            <a:chExt cx="3810000" cy="1498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422400"/>
                  </a:lnTo>
                  <a:cubicBezTo>
                    <a:pt x="3810000" y="1464484"/>
                    <a:pt x="3775884" y="1498600"/>
                    <a:pt x="3733800" y="1498600"/>
                  </a:cubicBezTo>
                  <a:lnTo>
                    <a:pt x="76200" y="1498600"/>
                  </a:lnTo>
                  <a:cubicBezTo>
                    <a:pt x="34116" y="1498600"/>
                    <a:pt x="0" y="1464484"/>
                    <a:pt x="0" y="1422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3810000" cy="1479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Video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049000" y="1714500"/>
            <a:ext cx="2857500" cy="1123950"/>
            <a:chOff x="0" y="0"/>
            <a:chExt cx="3810000" cy="1498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422400"/>
                  </a:lnTo>
                  <a:cubicBezTo>
                    <a:pt x="3810000" y="1464484"/>
                    <a:pt x="3775884" y="1498600"/>
                    <a:pt x="3733800" y="1498600"/>
                  </a:cubicBezTo>
                  <a:lnTo>
                    <a:pt x="76200" y="1498600"/>
                  </a:lnTo>
                  <a:cubicBezTo>
                    <a:pt x="34116" y="1498600"/>
                    <a:pt x="0" y="1464484"/>
                    <a:pt x="0" y="14224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6F82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3810000" cy="1479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Formularios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333750" y="287655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07078"/>
                </a:solidFill>
                <a:latin typeface="Source Sans 3"/>
                <a:ea typeface="Source Sans 3"/>
                <a:cs typeface="Source Sans 3"/>
                <a:sym typeface="Source Sans 3"/>
              </a:rPr>
              <a:t>Organiza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238875" y="56388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0707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Explora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92000" y="897255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0707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Comprueba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11250" y="56388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07078"/>
                </a:solidFill>
                <a:latin typeface="Source Sans 3"/>
                <a:ea typeface="Source Sans 3"/>
                <a:cs typeface="Source Sans 3"/>
                <a:sym typeface="Source Sans 3"/>
              </a:rPr>
              <a:t>Argumenta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00500" y="897255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0707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Contextualiza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49000" y="287655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607078"/>
                </a:solidFill>
                <a:latin typeface="Source Sans 3"/>
                <a:ea typeface="Source Sans 3"/>
                <a:cs typeface="Source Sans 3"/>
                <a:sym typeface="Source Sans 3"/>
              </a:rPr>
              <a:t>Mide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050" y="3333750"/>
            <a:ext cx="4905375" cy="3714750"/>
            <a:chOff x="0" y="0"/>
            <a:chExt cx="6540500" cy="4953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405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6540500">
                  <a:moveTo>
                    <a:pt x="0" y="0"/>
                  </a:moveTo>
                  <a:lnTo>
                    <a:pt x="6540500" y="0"/>
                  </a:lnTo>
                  <a:lnTo>
                    <a:pt x="65405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102B38"/>
            </a:solidFill>
            <a:ln w="19050" cap="sq">
              <a:solidFill>
                <a:srgbClr val="D6A63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5405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53175" y="3333750"/>
            <a:ext cx="4905375" cy="3714750"/>
            <a:chOff x="0" y="0"/>
            <a:chExt cx="6540500" cy="4953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405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6540500">
                  <a:moveTo>
                    <a:pt x="0" y="0"/>
                  </a:moveTo>
                  <a:lnTo>
                    <a:pt x="6540500" y="0"/>
                  </a:lnTo>
                  <a:lnTo>
                    <a:pt x="65405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164E3B"/>
            </a:solidFill>
            <a:ln w="19050" cap="sq">
              <a:solidFill>
                <a:srgbClr val="D6A63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405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25300" y="3333750"/>
            <a:ext cx="4905375" cy="3714750"/>
            <a:chOff x="0" y="0"/>
            <a:chExt cx="6540500" cy="495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405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6540500">
                  <a:moveTo>
                    <a:pt x="0" y="0"/>
                  </a:moveTo>
                  <a:lnTo>
                    <a:pt x="6540500" y="0"/>
                  </a:lnTo>
                  <a:lnTo>
                    <a:pt x="65405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102B38"/>
            </a:solidFill>
            <a:ln w="19050" cap="sq">
              <a:solidFill>
                <a:srgbClr val="D6A63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5405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7750" y="847725"/>
            <a:ext cx="13335000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Teoría que orienta cada decisión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1657350"/>
            <a:ext cx="123825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diseño articula aprendizaje activo, mediación tecnológica y progresión curricular; no usa TIC como adorno, sino como infraestructura para pensar.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750" y="3667125"/>
            <a:ext cx="9525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D6A63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750" y="4324350"/>
            <a:ext cx="447675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Perspectiva UTB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750" y="5172075"/>
            <a:ext cx="4333875" cy="66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Integración intencional entre pedagogía, contenido y tecnología.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19875" y="3667125"/>
            <a:ext cx="9525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D6A63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19875" y="4324350"/>
            <a:ext cx="447675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DBA 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19875" y="5172075"/>
            <a:ext cx="4333875" cy="66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Desempeños observables para ciencias, ciudadanía y lectura crítica.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92000" y="3667125"/>
            <a:ext cx="9525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D6A63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92000" y="4324350"/>
            <a:ext cx="447675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Aprendizaje activo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92000" y="5172075"/>
            <a:ext cx="4333875" cy="66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Indagar, contrastar evidencias, argumentar y crear una postura.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43250" y="8448675"/>
            <a:ext cx="12001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D6A63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PRINCIPIO RECTOR  ·  coherencia entre propósito, actividad y evidencia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3143250"/>
            <a:ext cx="4857750" cy="4857750"/>
            <a:chOff x="0" y="0"/>
            <a:chExt cx="6477000" cy="6477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477000" cy="6477000"/>
              <a:chOff x="0" y="0"/>
              <a:chExt cx="6477000" cy="6477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477000" cy="6477000"/>
              </a:xfrm>
              <a:custGeom>
                <a:avLst/>
                <a:gdLst/>
                <a:ahLst/>
                <a:cxnLst/>
                <a:rect r="r" b="b" t="t" l="l"/>
                <a:pathLst>
                  <a:path h="6477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6477000"/>
                    </a:lnTo>
                    <a:lnTo>
                      <a:pt x="0" y="647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BE5DC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477000" cy="651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44500" y="596900"/>
              <a:ext cx="5588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64E3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ANALIZAR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44500" y="1724025"/>
              <a:ext cx="5461000" cy="1590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8"/>
                </a:lnSpc>
              </a:pPr>
              <a:r>
                <a:rPr lang="en-US" sz="2775">
                  <a:solidFill>
                    <a:srgbClr val="102B3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Relaciones entre clima, territorio y poder.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44500" y="4806950"/>
              <a:ext cx="5461000" cy="702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true">
                  <a:solidFill>
                    <a:srgbClr val="2D6F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EVIDENCIA</a:t>
              </a:r>
            </a:p>
            <a:p>
              <a:pPr algn="l">
                <a:lnSpc>
                  <a:spcPts val="2145"/>
                </a:lnSpc>
              </a:pPr>
              <a:r>
                <a:rPr lang="en-US" sz="1650" b="true">
                  <a:solidFill>
                    <a:srgbClr val="2D6F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Mapa conceptual + rúbrica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77000" y="3143250"/>
            <a:ext cx="4857750" cy="4857750"/>
            <a:chOff x="0" y="0"/>
            <a:chExt cx="6477000" cy="6477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477000" cy="6477000"/>
              <a:chOff x="0" y="0"/>
              <a:chExt cx="6477000" cy="6477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477000" cy="6477000"/>
              </a:xfrm>
              <a:custGeom>
                <a:avLst/>
                <a:gdLst/>
                <a:ahLst/>
                <a:cxnLst/>
                <a:rect r="r" b="b" t="t" l="l"/>
                <a:pathLst>
                  <a:path h="6477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6477000"/>
                    </a:lnTo>
                    <a:lnTo>
                      <a:pt x="0" y="6477000"/>
                    </a:lnTo>
                    <a:close/>
                  </a:path>
                </a:pathLst>
              </a:custGeom>
              <a:solidFill>
                <a:srgbClr val="164E3B"/>
              </a:solidFill>
              <a:ln w="19050" cap="sq">
                <a:solidFill>
                  <a:srgbClr val="164E3B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477000" cy="651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44500" y="596900"/>
              <a:ext cx="5588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D6A63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ARGUMENTAR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44500" y="1724025"/>
              <a:ext cx="5461000" cy="1590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8"/>
                </a:lnSpc>
              </a:pPr>
              <a:r>
                <a:rPr lang="en-US" sz="2775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Una postura sustentada con fuentes confiables.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44500" y="4806950"/>
              <a:ext cx="5461000" cy="702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EVIDENCIA</a:t>
              </a:r>
            </a:p>
            <a:p>
              <a:pPr algn="l">
                <a:lnSpc>
                  <a:spcPts val="2145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Debate + lista de cotejo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906250" y="3143250"/>
            <a:ext cx="4857750" cy="4857750"/>
            <a:chOff x="0" y="0"/>
            <a:chExt cx="6477000" cy="6477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477000" cy="6477000"/>
              <a:chOff x="0" y="0"/>
              <a:chExt cx="6477000" cy="6477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477000" cy="6477000"/>
              </a:xfrm>
              <a:custGeom>
                <a:avLst/>
                <a:gdLst/>
                <a:ahLst/>
                <a:cxnLst/>
                <a:rect r="r" b="b" t="t" l="l"/>
                <a:pathLst>
                  <a:path h="6477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6477000"/>
                    </a:lnTo>
                    <a:lnTo>
                      <a:pt x="0" y="6477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DBE5DC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477000" cy="651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44500" y="596900"/>
              <a:ext cx="5588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64E3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CREAR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44500" y="1724025"/>
              <a:ext cx="5461000" cy="1590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8"/>
                </a:lnSpc>
              </a:pPr>
              <a:r>
                <a:rPr lang="en-US" sz="2775">
                  <a:solidFill>
                    <a:srgbClr val="102B38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Una propuesta de futuro climático local.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44500" y="4806950"/>
              <a:ext cx="5461000" cy="702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 b="true">
                  <a:solidFill>
                    <a:srgbClr val="2D6F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EVIDENCIA</a:t>
              </a:r>
            </a:p>
            <a:p>
              <a:pPr algn="l">
                <a:lnSpc>
                  <a:spcPts val="2145"/>
                </a:lnSpc>
              </a:pPr>
              <a:r>
                <a:rPr lang="en-US" sz="1650" b="true">
                  <a:solidFill>
                    <a:srgbClr val="2D6F82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Producto digital + coevaluación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7750" y="809625"/>
            <a:ext cx="13335000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02B38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Objetivos que sí dejan evidencia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7750" y="1543050"/>
            <a:ext cx="104775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02B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Tres verbos de Bloom conectan propósito, actividad y evaluación auténtica.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52475"/>
            <a:ext cx="12382500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02B38"/>
                </a:solidFill>
                <a:latin typeface="Archivo Black"/>
                <a:ea typeface="Archivo Black"/>
                <a:cs typeface="Archivo Black"/>
                <a:sym typeface="Archivo Black"/>
              </a:rPr>
              <a:t>El OVA: 15 páginas, una ruta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485900"/>
            <a:ext cx="114300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02B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Un libro interactivo modular conduce al estudiante desde la pregunta inicial hasta una respuesta situada.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000375"/>
            <a:ext cx="952500" cy="952500"/>
            <a:chOff x="0" y="0"/>
            <a:chExt cx="1270000" cy="127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228600" y="0"/>
                  </a:moveTo>
                  <a:lnTo>
                    <a:pt x="1041400" y="0"/>
                  </a:lnTo>
                  <a:cubicBezTo>
                    <a:pt x="1167652" y="0"/>
                    <a:pt x="1270000" y="102348"/>
                    <a:pt x="1270000" y="228600"/>
                  </a:cubicBezTo>
                  <a:lnTo>
                    <a:pt x="1270000" y="1041400"/>
                  </a:lnTo>
                  <a:cubicBezTo>
                    <a:pt x="1270000" y="1167652"/>
                    <a:pt x="1167652" y="1270000"/>
                    <a:pt x="1041400" y="1270000"/>
                  </a:cubicBezTo>
                  <a:lnTo>
                    <a:pt x="228600" y="1270000"/>
                  </a:lnTo>
                  <a:cubicBezTo>
                    <a:pt x="102348" y="1270000"/>
                    <a:pt x="0" y="1167652"/>
                    <a:pt x="0" y="1041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270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4476750"/>
            <a:ext cx="952500" cy="952500"/>
            <a:chOff x="0" y="0"/>
            <a:chExt cx="1270000" cy="127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228600" y="0"/>
                  </a:moveTo>
                  <a:lnTo>
                    <a:pt x="1041400" y="0"/>
                  </a:lnTo>
                  <a:cubicBezTo>
                    <a:pt x="1167652" y="0"/>
                    <a:pt x="1270000" y="102348"/>
                    <a:pt x="1270000" y="228600"/>
                  </a:cubicBezTo>
                  <a:lnTo>
                    <a:pt x="1270000" y="1041400"/>
                  </a:lnTo>
                  <a:cubicBezTo>
                    <a:pt x="1270000" y="1167652"/>
                    <a:pt x="1167652" y="1270000"/>
                    <a:pt x="1041400" y="1270000"/>
                  </a:cubicBezTo>
                  <a:lnTo>
                    <a:pt x="228600" y="1270000"/>
                  </a:lnTo>
                  <a:cubicBezTo>
                    <a:pt x="102348" y="1270000"/>
                    <a:pt x="0" y="1167652"/>
                    <a:pt x="0" y="1041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270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7750" y="5953125"/>
            <a:ext cx="952500" cy="952500"/>
            <a:chOff x="0" y="0"/>
            <a:chExt cx="1270000" cy="127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228600" y="0"/>
                  </a:moveTo>
                  <a:lnTo>
                    <a:pt x="1041400" y="0"/>
                  </a:lnTo>
                  <a:cubicBezTo>
                    <a:pt x="1167652" y="0"/>
                    <a:pt x="1270000" y="102348"/>
                    <a:pt x="1270000" y="228600"/>
                  </a:cubicBezTo>
                  <a:lnTo>
                    <a:pt x="1270000" y="1041400"/>
                  </a:lnTo>
                  <a:cubicBezTo>
                    <a:pt x="1270000" y="1167652"/>
                    <a:pt x="1167652" y="1270000"/>
                    <a:pt x="1041400" y="1270000"/>
                  </a:cubicBezTo>
                  <a:lnTo>
                    <a:pt x="228600" y="1270000"/>
                  </a:lnTo>
                  <a:cubicBezTo>
                    <a:pt x="102348" y="1270000"/>
                    <a:pt x="0" y="1167652"/>
                    <a:pt x="0" y="1041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1270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7750" y="7429500"/>
            <a:ext cx="952500" cy="952500"/>
            <a:chOff x="0" y="0"/>
            <a:chExt cx="1270000" cy="127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228600" y="0"/>
                  </a:moveTo>
                  <a:lnTo>
                    <a:pt x="1041400" y="0"/>
                  </a:lnTo>
                  <a:cubicBezTo>
                    <a:pt x="1167652" y="0"/>
                    <a:pt x="1270000" y="102348"/>
                    <a:pt x="1270000" y="228600"/>
                  </a:cubicBezTo>
                  <a:lnTo>
                    <a:pt x="1270000" y="1041400"/>
                  </a:lnTo>
                  <a:cubicBezTo>
                    <a:pt x="1270000" y="1167652"/>
                    <a:pt x="1167652" y="1270000"/>
                    <a:pt x="1041400" y="1270000"/>
                  </a:cubicBezTo>
                  <a:lnTo>
                    <a:pt x="228600" y="1270000"/>
                  </a:lnTo>
                  <a:cubicBezTo>
                    <a:pt x="102348" y="1270000"/>
                    <a:pt x="0" y="1167652"/>
                    <a:pt x="0" y="1041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D6A6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1270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04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333625" y="2943225"/>
            <a:ext cx="314325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102B38"/>
                </a:solidFill>
                <a:latin typeface="Archivo Black"/>
                <a:ea typeface="Archivo Black"/>
                <a:cs typeface="Archivo Black"/>
                <a:sym typeface="Archivo Black"/>
              </a:rPr>
              <a:t>Activar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33625" y="3438525"/>
            <a:ext cx="5429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0707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Pregunta guía y saberes previos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33625" y="3771900"/>
            <a:ext cx="2667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6A63C"/>
                </a:solidFill>
                <a:latin typeface="IBM Plex Mono"/>
                <a:ea typeface="IBM Plex Mono"/>
                <a:cs typeface="IBM Plex Mono"/>
                <a:sym typeface="IBM Plex Mono"/>
              </a:rPr>
              <a:t>PÁGS. 1—3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33625" y="4419600"/>
            <a:ext cx="314325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102B38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Explorar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33625" y="4914900"/>
            <a:ext cx="5429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07078"/>
                </a:solidFill>
                <a:latin typeface="Source Sans 3"/>
                <a:ea typeface="Source Sans 3"/>
                <a:cs typeface="Source Sans 3"/>
                <a:sym typeface="Source Sans 3"/>
              </a:rPr>
              <a:t>Fuentes, conceptos y casos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33625" y="5248275"/>
            <a:ext cx="2667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6A63C"/>
                </a:solidFill>
                <a:latin typeface="IBM Plex Mono"/>
                <a:ea typeface="IBM Plex Mono"/>
                <a:cs typeface="IBM Plex Mono"/>
                <a:sym typeface="IBM Plex Mono"/>
              </a:rPr>
              <a:t>PÁGS. 4—8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33625" y="5895975"/>
            <a:ext cx="314325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102B38"/>
                </a:solidFill>
                <a:latin typeface="Archivo Black"/>
                <a:ea typeface="Archivo Black"/>
                <a:cs typeface="Archivo Black"/>
                <a:sym typeface="Archivo Black"/>
              </a:rPr>
              <a:t>Argumentar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33625" y="6391275"/>
            <a:ext cx="5429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0707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Debate y contraste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33625" y="6724650"/>
            <a:ext cx="2667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6A63C"/>
                </a:solidFill>
                <a:latin typeface="IBM Plex Mono"/>
                <a:ea typeface="IBM Plex Mono"/>
                <a:cs typeface="IBM Plex Mono"/>
                <a:sym typeface="IBM Plex Mono"/>
              </a:rPr>
              <a:t>PÁGS. 9—12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33625" y="7372350"/>
            <a:ext cx="314325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102B38"/>
                </a:solidFill>
                <a:latin typeface="Archivo Black"/>
                <a:ea typeface="Archivo Black"/>
                <a:cs typeface="Archivo Black"/>
                <a:sym typeface="Archivo Black"/>
              </a:rPr>
              <a:t>Crear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33625" y="7867650"/>
            <a:ext cx="5429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0707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Propuesta y metacognición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33625" y="8201025"/>
            <a:ext cx="2667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D6A63C"/>
                </a:solidFill>
                <a:latin typeface="IBM Plex Mono"/>
                <a:ea typeface="IBM Plex Mono"/>
                <a:cs typeface="IBM Plex Mono"/>
                <a:sym typeface="IBM Plex Mono"/>
              </a:rPr>
              <a:t>PÁGS. 13—15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287000" y="2857500"/>
            <a:ext cx="6667500" cy="5810250"/>
          </a:xfrm>
          <a:custGeom>
            <a:avLst/>
            <a:gdLst/>
            <a:ahLst/>
            <a:cxnLst/>
            <a:rect r="r" b="b" t="t" l="l"/>
            <a:pathLst>
              <a:path h="5810250" w="6667500">
                <a:moveTo>
                  <a:pt x="0" y="0"/>
                </a:moveTo>
                <a:lnTo>
                  <a:pt x="6667500" y="0"/>
                </a:lnTo>
                <a:lnTo>
                  <a:pt x="6667500" y="5810250"/>
                </a:lnTo>
                <a:lnTo>
                  <a:pt x="0" y="581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" t="0" r="-82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3190875"/>
            <a:ext cx="7239000" cy="2238375"/>
            <a:chOff x="0" y="0"/>
            <a:chExt cx="9652000" cy="2984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52000" cy="2984500"/>
            </a:xfrm>
            <a:custGeom>
              <a:avLst/>
              <a:gdLst/>
              <a:ahLst/>
              <a:cxnLst/>
              <a:rect r="r" b="b" t="t" l="l"/>
              <a:pathLst>
                <a:path h="29845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984500"/>
                  </a:lnTo>
                  <a:lnTo>
                    <a:pt x="0" y="2984500"/>
                  </a:lnTo>
                  <a:close/>
                </a:path>
              </a:pathLst>
            </a:custGeom>
            <a:solidFill>
              <a:srgbClr val="164E3B"/>
            </a:solidFill>
            <a:ln w="19050" cap="sq">
              <a:solidFill>
                <a:srgbClr val="D6A63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52000" cy="302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3190875"/>
            <a:ext cx="7239000" cy="2238375"/>
            <a:chOff x="0" y="0"/>
            <a:chExt cx="9652000" cy="2984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52000" cy="2984500"/>
            </a:xfrm>
            <a:custGeom>
              <a:avLst/>
              <a:gdLst/>
              <a:ahLst/>
              <a:cxnLst/>
              <a:rect r="r" b="b" t="t" l="l"/>
              <a:pathLst>
                <a:path h="29845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984500"/>
                  </a:lnTo>
                  <a:lnTo>
                    <a:pt x="0" y="2984500"/>
                  </a:lnTo>
                  <a:close/>
                </a:path>
              </a:pathLst>
            </a:custGeom>
            <a:solidFill>
              <a:srgbClr val="102B38"/>
            </a:solidFill>
            <a:ln w="19050" cap="sq">
              <a:solidFill>
                <a:srgbClr val="D6A63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652000" cy="302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7750" y="6048375"/>
            <a:ext cx="7239000" cy="2238375"/>
            <a:chOff x="0" y="0"/>
            <a:chExt cx="9652000" cy="2984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52000" cy="2984500"/>
            </a:xfrm>
            <a:custGeom>
              <a:avLst/>
              <a:gdLst/>
              <a:ahLst/>
              <a:cxnLst/>
              <a:rect r="r" b="b" t="t" l="l"/>
              <a:pathLst>
                <a:path h="29845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984500"/>
                  </a:lnTo>
                  <a:lnTo>
                    <a:pt x="0" y="2984500"/>
                  </a:lnTo>
                  <a:close/>
                </a:path>
              </a:pathLst>
            </a:custGeom>
            <a:solidFill>
              <a:srgbClr val="102B38"/>
            </a:solidFill>
            <a:ln w="19050" cap="sq">
              <a:solidFill>
                <a:srgbClr val="D6A63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52000" cy="302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6048375"/>
            <a:ext cx="7239000" cy="2238375"/>
            <a:chOff x="0" y="0"/>
            <a:chExt cx="9652000" cy="2984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52000" cy="2984500"/>
            </a:xfrm>
            <a:custGeom>
              <a:avLst/>
              <a:gdLst/>
              <a:ahLst/>
              <a:cxnLst/>
              <a:rect r="r" b="b" t="t" l="l"/>
              <a:pathLst>
                <a:path h="29845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984500"/>
                  </a:lnTo>
                  <a:lnTo>
                    <a:pt x="0" y="2984500"/>
                  </a:lnTo>
                  <a:close/>
                </a:path>
              </a:pathLst>
            </a:custGeom>
            <a:solidFill>
              <a:srgbClr val="164E3B"/>
            </a:solidFill>
            <a:ln w="19050" cap="sq">
              <a:solidFill>
                <a:srgbClr val="D6A63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52000" cy="302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7750" y="828675"/>
            <a:ext cx="14097000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4 materiales que amplían la mediación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750" y="1581150"/>
            <a:ext cx="11430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Cada recurso cumple una función distinta antes, durante o después de la experiencia central.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1125" y="3438525"/>
            <a:ext cx="85725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D6A63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1125" y="3800475"/>
            <a:ext cx="619125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Guía docente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1125" y="4391025"/>
            <a:ext cx="6286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Secuencia, tiempos y claves de acompañamiento.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77375" y="3438525"/>
            <a:ext cx="85725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D6A63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77375" y="3800475"/>
            <a:ext cx="619125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Video detonante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77375" y="4391025"/>
            <a:ext cx="6286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Contexto climático local para abrir la conversación.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1125" y="6296025"/>
            <a:ext cx="85725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D6A63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1125" y="6657975"/>
            <a:ext cx="619125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Banco de fuentes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1125" y="7248525"/>
            <a:ext cx="6286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Datos y voces para contrastar perspectivas.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77375" y="6296025"/>
            <a:ext cx="85725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D6A63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77375" y="6657975"/>
            <a:ext cx="619125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Kit de evaluación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77375" y="7248525"/>
            <a:ext cx="6286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Rúbrica, cotejo y coevaluación listos para usar.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29750" y="0"/>
            <a:ext cx="8858250" cy="10287000"/>
          </a:xfrm>
          <a:custGeom>
            <a:avLst/>
            <a:gdLst/>
            <a:ahLst/>
            <a:cxnLst/>
            <a:rect r="r" b="b" t="t" l="l"/>
            <a:pathLst>
              <a:path h="10287000" w="8858250">
                <a:moveTo>
                  <a:pt x="0" y="0"/>
                </a:moveTo>
                <a:lnTo>
                  <a:pt x="8858250" y="0"/>
                </a:lnTo>
                <a:lnTo>
                  <a:pt x="8858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" t="0" r="-8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239250" y="0"/>
            <a:ext cx="190500" cy="10287000"/>
            <a:chOff x="0" y="0"/>
            <a:chExt cx="25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A63C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7750" y="1000125"/>
            <a:ext cx="742950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3000">
                <a:solidFill>
                  <a:srgbClr val="102B38"/>
                </a:solidFill>
                <a:latin typeface="Archivo Black"/>
                <a:ea typeface="Archivo Black"/>
                <a:cs typeface="Archivo Black"/>
                <a:sym typeface="Archivo Black"/>
              </a:rPr>
              <a:t>Piloto controlado, observación real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2552700"/>
            <a:ext cx="7143750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02B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prueba se implementó con 12 estudiantes de INEDCI (Nariño), en condiciones delimitadas para observar comprensión, navegación y participación.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5010150"/>
            <a:ext cx="2476500" cy="156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10"/>
              </a:lnSpc>
            </a:pPr>
            <a:r>
              <a:rPr lang="en-US" sz="9150">
                <a:solidFill>
                  <a:srgbClr val="164E3B"/>
                </a:solidFill>
                <a:latin typeface="Archivo Black"/>
                <a:ea typeface="Archivo Black"/>
                <a:cs typeface="Archivo Black"/>
                <a:sym typeface="Archivo Black"/>
              </a:rPr>
              <a:t>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6543675"/>
            <a:ext cx="3333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D6A63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ESTUDIANTES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8058150"/>
            <a:ext cx="7239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02B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Entrada  →  experiencia OVA  →  salida  →  conversación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14287500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02B38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Resultados: aprendizaje + experiencia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409700"/>
            <a:ext cx="138112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02B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lectura conjunta combina desempeño antes/después y percepción de usabilidad. Los valores del gráfico deben validarse con la base final del piloto.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7751" y="2000835"/>
            <a:ext cx="11124998" cy="790458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1239500" y="7762875"/>
            <a:ext cx="6000750" cy="2000250"/>
            <a:chOff x="0" y="0"/>
            <a:chExt cx="8001000" cy="266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01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DBE5D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001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715750" y="8115300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D6A63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LECTURA DIDÁCTICA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15750" y="8620125"/>
            <a:ext cx="5334000" cy="92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2100">
                <a:solidFill>
                  <a:srgbClr val="164E3B"/>
                </a:solidFill>
                <a:latin typeface="Archivo Black"/>
                <a:ea typeface="Archivo Black"/>
                <a:cs typeface="Archivo Black"/>
                <a:sym typeface="Archivo Black"/>
              </a:rPr>
              <a:t>La mejora importa cuando la navegación deja de competir con el aprendizaje.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47725"/>
            <a:ext cx="14287500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Feedback que se convierte en versión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600200"/>
            <a:ext cx="11430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mejora continua conecta una observación concreta con una decisión verificable de diseño.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3714750"/>
            <a:ext cx="3333750" cy="1476375"/>
            <a:chOff x="0" y="0"/>
            <a:chExt cx="4445000" cy="1968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903186"/>
                  </a:lnTo>
                  <a:cubicBezTo>
                    <a:pt x="4445000" y="1920508"/>
                    <a:pt x="4438119" y="1937121"/>
                    <a:pt x="4425870" y="1949370"/>
                  </a:cubicBezTo>
                  <a:cubicBezTo>
                    <a:pt x="4413621" y="1961619"/>
                    <a:pt x="4397008" y="1968500"/>
                    <a:pt x="4379686" y="1968500"/>
                  </a:cubicBezTo>
                  <a:lnTo>
                    <a:pt x="65314" y="1968500"/>
                  </a:lnTo>
                  <a:cubicBezTo>
                    <a:pt x="47992" y="1968500"/>
                    <a:pt x="31379" y="1961619"/>
                    <a:pt x="19130" y="1949370"/>
                  </a:cubicBezTo>
                  <a:cubicBezTo>
                    <a:pt x="6881" y="1937121"/>
                    <a:pt x="0" y="1920508"/>
                    <a:pt x="0" y="1903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4445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ESCUCHAR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4476750" y="4457700"/>
            <a:ext cx="904875" cy="2095500"/>
          </a:xfrm>
          <a:prstGeom prst="line">
            <a:avLst/>
          </a:prstGeom>
          <a:ln cap="rnd" w="47625">
            <a:solidFill>
              <a:srgbClr val="D6A63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381625" y="5810250"/>
            <a:ext cx="3333750" cy="1476375"/>
            <a:chOff x="0" y="0"/>
            <a:chExt cx="4445000" cy="196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903186"/>
                  </a:lnTo>
                  <a:cubicBezTo>
                    <a:pt x="4445000" y="1920508"/>
                    <a:pt x="4438119" y="1937121"/>
                    <a:pt x="4425870" y="1949370"/>
                  </a:cubicBezTo>
                  <a:cubicBezTo>
                    <a:pt x="4413621" y="1961619"/>
                    <a:pt x="4397008" y="1968500"/>
                    <a:pt x="4379686" y="1968500"/>
                  </a:cubicBezTo>
                  <a:lnTo>
                    <a:pt x="65314" y="1968500"/>
                  </a:lnTo>
                  <a:cubicBezTo>
                    <a:pt x="47992" y="1968500"/>
                    <a:pt x="31379" y="1961619"/>
                    <a:pt x="19130" y="1949370"/>
                  </a:cubicBezTo>
                  <a:cubicBezTo>
                    <a:pt x="6881" y="1937121"/>
                    <a:pt x="0" y="1920508"/>
                    <a:pt x="0" y="1903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4445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PRIORIZAR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8715375" y="4457700"/>
            <a:ext cx="904875" cy="2095500"/>
          </a:xfrm>
          <a:prstGeom prst="line">
            <a:avLst/>
          </a:prstGeom>
          <a:ln cap="rnd" w="47625">
            <a:solidFill>
              <a:srgbClr val="D6A63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620250" y="3714750"/>
            <a:ext cx="3333750" cy="1476375"/>
            <a:chOff x="0" y="0"/>
            <a:chExt cx="4445000" cy="196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903186"/>
                  </a:lnTo>
                  <a:cubicBezTo>
                    <a:pt x="4445000" y="1920508"/>
                    <a:pt x="4438119" y="1937121"/>
                    <a:pt x="4425870" y="1949370"/>
                  </a:cubicBezTo>
                  <a:cubicBezTo>
                    <a:pt x="4413621" y="1961619"/>
                    <a:pt x="4397008" y="1968500"/>
                    <a:pt x="4379686" y="1968500"/>
                  </a:cubicBezTo>
                  <a:lnTo>
                    <a:pt x="65314" y="1968500"/>
                  </a:lnTo>
                  <a:cubicBezTo>
                    <a:pt x="47992" y="1968500"/>
                    <a:pt x="31379" y="1961619"/>
                    <a:pt x="19130" y="1949370"/>
                  </a:cubicBezTo>
                  <a:cubicBezTo>
                    <a:pt x="6881" y="1937121"/>
                    <a:pt x="0" y="1920508"/>
                    <a:pt x="0" y="1903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D6A6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4445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AJUSTAR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2954000" y="4457700"/>
            <a:ext cx="904875" cy="2095500"/>
          </a:xfrm>
          <a:prstGeom prst="line">
            <a:avLst/>
          </a:prstGeom>
          <a:ln cap="rnd" w="47625">
            <a:solidFill>
              <a:srgbClr val="D6A63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3858875" y="5810250"/>
            <a:ext cx="3333750" cy="1476375"/>
            <a:chOff x="0" y="0"/>
            <a:chExt cx="4445000" cy="196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5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903186"/>
                  </a:lnTo>
                  <a:cubicBezTo>
                    <a:pt x="4445000" y="1920508"/>
                    <a:pt x="4438119" y="1937121"/>
                    <a:pt x="4425870" y="1949370"/>
                  </a:cubicBezTo>
                  <a:cubicBezTo>
                    <a:pt x="4413621" y="1961619"/>
                    <a:pt x="4397008" y="1968500"/>
                    <a:pt x="4379686" y="1968500"/>
                  </a:cubicBezTo>
                  <a:lnTo>
                    <a:pt x="65314" y="1968500"/>
                  </a:lnTo>
                  <a:cubicBezTo>
                    <a:pt x="47992" y="1968500"/>
                    <a:pt x="31379" y="1961619"/>
                    <a:pt x="19130" y="1949370"/>
                  </a:cubicBezTo>
                  <a:cubicBezTo>
                    <a:pt x="6881" y="1937121"/>
                    <a:pt x="0" y="1920508"/>
                    <a:pt x="0" y="19031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164E3B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4445000" cy="194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VERIFICAR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43000" y="5391150"/>
            <a:ext cx="333375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Comentarios y dificultades observadas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81625" y="7486650"/>
            <a:ext cx="33337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Impacto pedagógico × esfuerzo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0250" y="5391150"/>
            <a:ext cx="33337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Navegación, consignas y apoyos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58875" y="7486650"/>
            <a:ext cx="33337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Nueva revisión con criterios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0" y="2000250"/>
            <a:ext cx="5048250" cy="3048000"/>
            <a:chOff x="0" y="0"/>
            <a:chExt cx="6731000" cy="406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31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6731000">
                  <a:moveTo>
                    <a:pt x="3365500" y="0"/>
                  </a:moveTo>
                  <a:cubicBezTo>
                    <a:pt x="5224214" y="0"/>
                    <a:pt x="6731000" y="909757"/>
                    <a:pt x="6731000" y="2032000"/>
                  </a:cubicBezTo>
                  <a:cubicBezTo>
                    <a:pt x="6731000" y="3154243"/>
                    <a:pt x="5224214" y="4064000"/>
                    <a:pt x="3365500" y="4064000"/>
                  </a:cubicBezTo>
                  <a:cubicBezTo>
                    <a:pt x="1506786" y="4064000"/>
                    <a:pt x="0" y="3154243"/>
                    <a:pt x="0" y="2032000"/>
                  </a:cubicBezTo>
                  <a:cubicBezTo>
                    <a:pt x="0" y="909757"/>
                    <a:pt x="1506786" y="0"/>
                    <a:pt x="3365500" y="0"/>
                  </a:cubicBezTo>
                  <a:close/>
                </a:path>
              </a:pathLst>
            </a:custGeom>
            <a:solidFill>
              <a:srgbClr val="164E3B"/>
            </a:solidFill>
            <a:ln w="38100" cap="sq">
              <a:solidFill>
                <a:srgbClr val="D6A63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731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7750" y="1714500"/>
            <a:ext cx="857250" cy="66675"/>
            <a:chOff x="0" y="0"/>
            <a:chExt cx="1143000" cy="88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3000" cy="88900"/>
            </a:xfrm>
            <a:custGeom>
              <a:avLst/>
              <a:gdLst/>
              <a:ahLst/>
              <a:cxnLst/>
              <a:rect r="r" b="b" t="t" l="l"/>
              <a:pathLst>
                <a:path h="889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D6A63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47750" y="971550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D6A63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PASOS 6 Y 7 · CONCLUSIONES + ENTREGA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2047875"/>
            <a:ext cx="10668000" cy="240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0"/>
              </a:lnSpc>
            </a:pPr>
            <a:r>
              <a:rPr lang="en-US" sz="61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Una experiencia lista</a:t>
            </a:r>
          </a:p>
          <a:p>
            <a:pPr algn="l">
              <a:lnSpc>
                <a:spcPts val="6150"/>
              </a:lnSpc>
            </a:pPr>
            <a:r>
              <a:rPr lang="en-US" sz="61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para enseñar, medir</a:t>
            </a:r>
          </a:p>
          <a:p>
            <a:pPr algn="l">
              <a:lnSpc>
                <a:spcPts val="6150"/>
              </a:lnSpc>
            </a:pPr>
            <a:r>
              <a:rPr lang="en-US" sz="615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y mejorar.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4933950"/>
            <a:ext cx="88582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proyecto consolida una secuencia coherente, recursos públicos y evidencias verificables para sustentar su calidad pedagógica y tecnológica.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3000" y="2743200"/>
            <a:ext cx="466725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sz="5550">
                <a:solidFill>
                  <a:srgbClr val="D6A63C"/>
                </a:solidFill>
                <a:latin typeface="Archivo Black"/>
                <a:ea typeface="Archivo Black"/>
                <a:cs typeface="Archivo Black"/>
                <a:sym typeface="Archivo Black"/>
              </a:rPr>
              <a:t>5.0 / 5.0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73000" y="3876675"/>
            <a:ext cx="466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VERIFICACIÓN DE RÚBRICA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750" y="7762875"/>
            <a:ext cx="11906250" cy="673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ENTREGA FINAL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OVA público  ·  materiales  ·  evidencias  ·  rúbrica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DAHYU-1KZss</dc:identifier>
  <dcterms:modified xsi:type="dcterms:W3CDTF">2011-08-01T06:04:30Z</dcterms:modified>
  <cp:revision>1</cp:revision>
  <dc:title>Clima, Poder y Futuro</dc:title>
</cp:coreProperties>
</file>